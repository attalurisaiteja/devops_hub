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Agency FB" panose="020B0503020202020204" pitchFamily="34" charset="0"/>
      <p:regular r:id="rId14"/>
      <p:bold r:id="rId15"/>
    </p:embeddedFont>
    <p:embeddedFont>
      <p:font typeface="Algerian" panose="04020705040A02060702" pitchFamily="82" charset="0"/>
      <p:regular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Copperplate Gothic Bold" panose="020E0705020206020404" pitchFamily="34" charset="0"/>
      <p:regular r:id="rId21"/>
    </p:embeddedFont>
    <p:embeddedFont>
      <p:font typeface="Corben" panose="020B0604020202020204" charset="0"/>
      <p:regular r:id="rId22"/>
    </p:embeddedFont>
    <p:embeddedFont>
      <p:font typeface="Nobile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008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1.png"/><Relationship Id="rId18" Type="http://schemas.openxmlformats.org/officeDocument/2006/relationships/hyperlink" Target="https://docs.aws.amazon.com/systems-manager/latest/userguide/systems-manager-parameter-store.html" TargetMode="External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10.xml"/><Relationship Id="rId16" Type="http://schemas.openxmlformats.org/officeDocument/2006/relationships/hyperlink" Target="https://console.aws.amazon.com/systems-manager/parameters" TargetMode="External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4.png"/><Relationship Id="rId11" Type="http://schemas.openxmlformats.org/officeDocument/2006/relationships/image" Target="../media/image49.svg"/><Relationship Id="rId5" Type="http://schemas.openxmlformats.org/officeDocument/2006/relationships/image" Target="../media/image43.sv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5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2882" y="2261018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			</a:t>
            </a:r>
            <a:r>
              <a:rPr lang="en-US" sz="4450" dirty="0">
                <a:solidFill>
                  <a:srgbClr val="0070C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AWS</a:t>
            </a: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	</a:t>
            </a:r>
            <a:r>
              <a:rPr lang="en-US" sz="4450" dirty="0">
                <a:solidFill>
                  <a:srgbClr val="1B1B27"/>
                </a:solidFill>
                <a:latin typeface="Copperplate Gothic Bold" panose="020E0705020206020404" pitchFamily="34" charset="0"/>
                <a:ea typeface="Corben" pitchFamily="34" charset="-122"/>
                <a:cs typeface="Corben" pitchFamily="34" charset="-120"/>
              </a:rPr>
              <a:t>Systems Manager 	 	Parameter Store</a:t>
            </a:r>
          </a:p>
          <a:p>
            <a:pPr>
              <a:lnSpc>
                <a:spcPts val="5550"/>
              </a:lnSpc>
            </a:pPr>
            <a:r>
              <a:rPr lang="en-IN" sz="2400" dirty="0">
                <a:latin typeface="Algerian" panose="04020705040A02060702" pitchFamily="82" charset="0"/>
              </a:rPr>
              <a:t>Secure Configuration &amp; Secrets Management</a:t>
            </a:r>
            <a:endParaRPr lang="en-US" sz="2400" dirty="0">
              <a:latin typeface="Algerian" panose="04020705040A02060702" pitchFamily="8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3035" y="5364115"/>
            <a:ext cx="8466268" cy="239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endParaRPr lang="en-US" sz="2800" dirty="0">
              <a:solidFill>
                <a:srgbClr val="0070C0"/>
              </a:solidFill>
            </a:endParaRPr>
          </a:p>
          <a:p>
            <a:pPr>
              <a:lnSpc>
                <a:spcPts val="2850"/>
              </a:lnSpc>
            </a:pPr>
            <a:r>
              <a:rPr lang="en-US" sz="1600" dirty="0"/>
              <a:t>.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endParaRPr lang="en-US" sz="17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E4E32E-5BB5-FAC5-156E-90DB17BB6594}"/>
              </a:ext>
            </a:extLst>
          </p:cNvPr>
          <p:cNvSpPr txBox="1"/>
          <p:nvPr/>
        </p:nvSpPr>
        <p:spPr>
          <a:xfrm>
            <a:off x="0" y="7434050"/>
            <a:ext cx="73743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Presented by:</a:t>
            </a:r>
            <a:r>
              <a:rPr lang="en-US" dirty="0"/>
              <a:t> </a:t>
            </a:r>
            <a:r>
              <a:rPr lang="en-US" i="1" dirty="0" err="1">
                <a:solidFill>
                  <a:srgbClr val="0070C0"/>
                </a:solidFill>
              </a:rPr>
              <a:t>Attaluri</a:t>
            </a:r>
            <a:r>
              <a:rPr lang="en-US" i="1" dirty="0">
                <a:solidFill>
                  <a:srgbClr val="0070C0"/>
                </a:solidFill>
              </a:rPr>
              <a:t> Sai Teja</a:t>
            </a:r>
            <a:br>
              <a:rPr lang="en-US" dirty="0"/>
            </a:br>
            <a:r>
              <a:rPr lang="en-US" b="1" dirty="0"/>
              <a:t>Course:</a:t>
            </a:r>
            <a:r>
              <a:rPr lang="en-US" dirty="0"/>
              <a:t> </a:t>
            </a:r>
            <a:r>
              <a:rPr lang="en-US" i="1" dirty="0"/>
              <a:t>Cloud Computing / AWS Architecture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8407" y="591741"/>
            <a:ext cx="2086332" cy="315992"/>
          </a:xfrm>
          <a:prstGeom prst="roundRect">
            <a:avLst>
              <a:gd name="adj" fmla="val 17878"/>
            </a:avLst>
          </a:prstGeom>
          <a:solidFill>
            <a:srgbClr val="D2D9F9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253" y="682466"/>
            <a:ext cx="134422" cy="1344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90826" y="642104"/>
            <a:ext cx="1683068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AWS SYSTEMS MANAGER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588407" y="974884"/>
            <a:ext cx="5018961" cy="52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is Parameter Store?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588407" y="1903571"/>
            <a:ext cx="4616291" cy="1344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88407" y="3399592"/>
            <a:ext cx="4616291" cy="1281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 critical information like database connection strings, passwords, AMI IDs, and license codes as parameter values that can be referenced throughout your applications and AWS services.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622369" y="1941433"/>
            <a:ext cx="2940844" cy="1723668"/>
          </a:xfrm>
          <a:prstGeom prst="roundRect">
            <a:avLst>
              <a:gd name="adj" fmla="val 409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798106" y="2117169"/>
            <a:ext cx="504349" cy="504349"/>
          </a:xfrm>
          <a:prstGeom prst="roundRect">
            <a:avLst>
              <a:gd name="adj" fmla="val 18128490"/>
            </a:avLst>
          </a:prstGeom>
          <a:solidFill>
            <a:srgbClr val="4967E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6813" y="2255758"/>
            <a:ext cx="226933" cy="2269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98106" y="2789634"/>
            <a:ext cx="2101691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Plain Text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5798106" y="3220403"/>
            <a:ext cx="258937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Configuration values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622369" y="3833217"/>
            <a:ext cx="2940844" cy="1723668"/>
          </a:xfrm>
          <a:prstGeom prst="roundRect">
            <a:avLst>
              <a:gd name="adj" fmla="val 409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798106" y="4008953"/>
            <a:ext cx="504349" cy="504349"/>
          </a:xfrm>
          <a:prstGeom prst="roundRect">
            <a:avLst>
              <a:gd name="adj" fmla="val 18128490"/>
            </a:avLst>
          </a:prstGeom>
          <a:solidFill>
            <a:srgbClr val="4967E9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36813" y="4147542"/>
            <a:ext cx="226933" cy="22693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98106" y="4681418"/>
            <a:ext cx="2101691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Encrypted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5798106" y="5112187"/>
            <a:ext cx="258937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Sensitive secrets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622369" y="5725001"/>
            <a:ext cx="2940844" cy="1723668"/>
          </a:xfrm>
          <a:prstGeom prst="roundRect">
            <a:avLst>
              <a:gd name="adj" fmla="val 409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798106" y="5900738"/>
            <a:ext cx="504349" cy="504349"/>
          </a:xfrm>
          <a:prstGeom prst="roundRect">
            <a:avLst>
              <a:gd name="adj" fmla="val 18128490"/>
            </a:avLst>
          </a:prstGeom>
          <a:solidFill>
            <a:srgbClr val="4967E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36813" y="6039326"/>
            <a:ext cx="226933" cy="22693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798106" y="6573203"/>
            <a:ext cx="2101691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Integrated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5798106" y="7003971"/>
            <a:ext cx="258937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AWS services</a:t>
            </a:r>
            <a:endParaRPr lang="en-US" sz="1300" dirty="0"/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24F78CED-ACD3-5688-294A-5FB8C3B9B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668" y="1808156"/>
            <a:ext cx="535143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managed AWS service for configuration &amp; secrets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Secure, hierarchical key–value storage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Centralizes application configuration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Eliminates hardcoded secrets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FDD976-7D23-5C3B-ABA4-24B499D4FD40}"/>
              </a:ext>
            </a:extLst>
          </p:cNvPr>
          <p:cNvSpPr txBox="1"/>
          <p:nvPr/>
        </p:nvSpPr>
        <p:spPr>
          <a:xfrm>
            <a:off x="1925617" y="2693961"/>
            <a:ext cx="612110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latin typeface="Agency FB" panose="020B0503020202020204" pitchFamily="34" charset="0"/>
              </a:rPr>
              <a:t>Application (EC2 / Lambda / ECS)</a:t>
            </a:r>
          </a:p>
          <a:p>
            <a:r>
              <a:rPr lang="en-IN" sz="4400" dirty="0">
                <a:latin typeface="Agency FB" panose="020B0503020202020204" pitchFamily="34" charset="0"/>
              </a:rPr>
              <a:t>              ↓</a:t>
            </a:r>
          </a:p>
          <a:p>
            <a:r>
              <a:rPr lang="en-IN" sz="4400" dirty="0">
                <a:latin typeface="Agency FB" panose="020B0503020202020204" pitchFamily="34" charset="0"/>
              </a:rPr>
              <a:t>          IAM Role</a:t>
            </a:r>
          </a:p>
          <a:p>
            <a:r>
              <a:rPr lang="en-IN" sz="4400" dirty="0">
                <a:latin typeface="Agency FB" panose="020B0503020202020204" pitchFamily="34" charset="0"/>
              </a:rPr>
              <a:t>              ↓</a:t>
            </a:r>
          </a:p>
          <a:p>
            <a:r>
              <a:rPr lang="en-IN" sz="4400" dirty="0">
                <a:latin typeface="Agency FB" panose="020B0503020202020204" pitchFamily="34" charset="0"/>
              </a:rPr>
              <a:t>      Parameter Store (</a:t>
            </a:r>
            <a:r>
              <a:rPr lang="en-IN" sz="4400" dirty="0" err="1">
                <a:latin typeface="Agency FB" panose="020B0503020202020204" pitchFamily="34" charset="0"/>
              </a:rPr>
              <a:t>SecureString</a:t>
            </a:r>
            <a:r>
              <a:rPr lang="en-IN" sz="4400" dirty="0">
                <a:latin typeface="Agency FB" panose="020B0503020202020204" pitchFamily="34" charset="0"/>
              </a:rPr>
              <a:t> + KMS)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99364-AD70-DD84-1187-4A5B5DA428D0}"/>
              </a:ext>
            </a:extLst>
          </p:cNvPr>
          <p:cNvSpPr txBox="1"/>
          <p:nvPr/>
        </p:nvSpPr>
        <p:spPr>
          <a:xfrm>
            <a:off x="1032734" y="1219207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rgbClr val="0070C0"/>
                </a:solidFill>
                <a:latin typeface="Algerian" panose="04020705040A02060702" pitchFamily="82" charset="0"/>
              </a:rPr>
              <a:t>A simple architecture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DD807E-63F1-88F1-D59B-6913FF25B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63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1706" y="960953"/>
            <a:ext cx="5939076" cy="39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Use Parameter Store? Key Benefits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6031706" y="1740813"/>
            <a:ext cx="8053268" cy="1143238"/>
          </a:xfrm>
          <a:prstGeom prst="roundRect">
            <a:avLst>
              <a:gd name="adj" fmla="val 6399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031706" y="1725573"/>
            <a:ext cx="8053268" cy="60960"/>
          </a:xfrm>
          <a:prstGeom prst="roundRect">
            <a:avLst>
              <a:gd name="adj" fmla="val 87724"/>
            </a:avLst>
          </a:prstGeom>
          <a:solidFill>
            <a:srgbClr val="4967E9"/>
          </a:solidFill>
          <a:ln/>
        </p:spPr>
      </p:sp>
      <p:sp>
        <p:nvSpPr>
          <p:cNvPr id="6" name="Shape 3"/>
          <p:cNvSpPr/>
          <p:nvPr/>
        </p:nvSpPr>
        <p:spPr>
          <a:xfrm>
            <a:off x="9867305" y="1549837"/>
            <a:ext cx="381953" cy="381952"/>
          </a:xfrm>
          <a:prstGeom prst="roundRect">
            <a:avLst>
              <a:gd name="adj" fmla="val 239402"/>
            </a:avLst>
          </a:prstGeom>
          <a:solidFill>
            <a:srgbClr val="4967E9"/>
          </a:solidFill>
          <a:ln/>
        </p:spPr>
      </p:sp>
      <p:sp>
        <p:nvSpPr>
          <p:cNvPr id="7" name="Text 4"/>
          <p:cNvSpPr/>
          <p:nvPr/>
        </p:nvSpPr>
        <p:spPr>
          <a:xfrm>
            <a:off x="9981843" y="1645325"/>
            <a:ext cx="152757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74224" y="2059067"/>
            <a:ext cx="1660922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Centralized &amp; Scalable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74224" y="2334339"/>
            <a:ext cx="7768233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 configuration data in a single, highly available location that scales automatically across multiple Availability Zones. No infrastructure management required.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31706" y="3202305"/>
            <a:ext cx="8053268" cy="1143238"/>
          </a:xfrm>
          <a:prstGeom prst="roundRect">
            <a:avLst>
              <a:gd name="adj" fmla="val 6399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031706" y="3187065"/>
            <a:ext cx="8053268" cy="60960"/>
          </a:xfrm>
          <a:prstGeom prst="roundRect">
            <a:avLst>
              <a:gd name="adj" fmla="val 87724"/>
            </a:avLst>
          </a:prstGeom>
          <a:solidFill>
            <a:srgbClr val="4967E9"/>
          </a:solidFill>
          <a:ln/>
        </p:spPr>
      </p:sp>
      <p:sp>
        <p:nvSpPr>
          <p:cNvPr id="12" name="Shape 9"/>
          <p:cNvSpPr/>
          <p:nvPr/>
        </p:nvSpPr>
        <p:spPr>
          <a:xfrm>
            <a:off x="9867305" y="3011329"/>
            <a:ext cx="381953" cy="381952"/>
          </a:xfrm>
          <a:prstGeom prst="roundRect">
            <a:avLst>
              <a:gd name="adj" fmla="val 239402"/>
            </a:avLst>
          </a:prstGeom>
          <a:solidFill>
            <a:srgbClr val="4967E9"/>
          </a:solidFill>
          <a:ln/>
        </p:spPr>
      </p:sp>
      <p:sp>
        <p:nvSpPr>
          <p:cNvPr id="13" name="Text 10"/>
          <p:cNvSpPr/>
          <p:nvPr/>
        </p:nvSpPr>
        <p:spPr>
          <a:xfrm>
            <a:off x="9981843" y="3106817"/>
            <a:ext cx="152757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74224" y="3520559"/>
            <a:ext cx="1591508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Enhanced Security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74224" y="3795832"/>
            <a:ext cx="7768233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Separate secrets from your application code and infrastructure templates. Reduce exposure of sensitive data in version control systems and deployment pipelines.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1706" y="4663797"/>
            <a:ext cx="8053268" cy="1143238"/>
          </a:xfrm>
          <a:prstGeom prst="roundRect">
            <a:avLst>
              <a:gd name="adj" fmla="val 6399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031706" y="4648557"/>
            <a:ext cx="8053268" cy="60960"/>
          </a:xfrm>
          <a:prstGeom prst="roundRect">
            <a:avLst>
              <a:gd name="adj" fmla="val 87724"/>
            </a:avLst>
          </a:prstGeom>
          <a:solidFill>
            <a:srgbClr val="4967E9"/>
          </a:solidFill>
          <a:ln/>
        </p:spPr>
      </p:sp>
      <p:sp>
        <p:nvSpPr>
          <p:cNvPr id="18" name="Shape 15"/>
          <p:cNvSpPr/>
          <p:nvPr/>
        </p:nvSpPr>
        <p:spPr>
          <a:xfrm>
            <a:off x="9867305" y="4472821"/>
            <a:ext cx="381953" cy="381952"/>
          </a:xfrm>
          <a:prstGeom prst="roundRect">
            <a:avLst>
              <a:gd name="adj" fmla="val 239402"/>
            </a:avLst>
          </a:prstGeom>
          <a:solidFill>
            <a:srgbClr val="4967E9"/>
          </a:solidFill>
          <a:ln/>
        </p:spPr>
      </p:sp>
      <p:sp>
        <p:nvSpPr>
          <p:cNvPr id="19" name="Text 16"/>
          <p:cNvSpPr/>
          <p:nvPr/>
        </p:nvSpPr>
        <p:spPr>
          <a:xfrm>
            <a:off x="9981843" y="4568309"/>
            <a:ext cx="152757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74224" y="4982051"/>
            <a:ext cx="1594366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Fine-Grained Control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174224" y="5257324"/>
            <a:ext cx="7768233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Leverage AWS IAM policies for precise access control. Track every parameter access and modification with comprehensive CloudTrail audit logging.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1706" y="6125289"/>
            <a:ext cx="8053268" cy="1143238"/>
          </a:xfrm>
          <a:prstGeom prst="roundRect">
            <a:avLst>
              <a:gd name="adj" fmla="val 6399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031706" y="6110049"/>
            <a:ext cx="8053268" cy="60960"/>
          </a:xfrm>
          <a:prstGeom prst="roundRect">
            <a:avLst>
              <a:gd name="adj" fmla="val 87724"/>
            </a:avLst>
          </a:prstGeom>
          <a:solidFill>
            <a:srgbClr val="4967E9"/>
          </a:solidFill>
          <a:ln/>
        </p:spPr>
      </p:sp>
      <p:sp>
        <p:nvSpPr>
          <p:cNvPr id="24" name="Shape 21"/>
          <p:cNvSpPr/>
          <p:nvPr/>
        </p:nvSpPr>
        <p:spPr>
          <a:xfrm>
            <a:off x="9867305" y="5934313"/>
            <a:ext cx="381953" cy="381952"/>
          </a:xfrm>
          <a:prstGeom prst="roundRect">
            <a:avLst>
              <a:gd name="adj" fmla="val 239402"/>
            </a:avLst>
          </a:prstGeom>
          <a:solidFill>
            <a:srgbClr val="4967E9"/>
          </a:solidFill>
          <a:ln/>
        </p:spPr>
      </p:sp>
      <p:sp>
        <p:nvSpPr>
          <p:cNvPr id="25" name="Text 22"/>
          <p:cNvSpPr/>
          <p:nvPr/>
        </p:nvSpPr>
        <p:spPr>
          <a:xfrm>
            <a:off x="9981843" y="6029801"/>
            <a:ext cx="152757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74224" y="6443543"/>
            <a:ext cx="1603653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Version Management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174224" y="6718816"/>
            <a:ext cx="7768233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 complete parameter history with automatic versioning. Organize parameters in hierarchical structures for intuitive management across environments.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2963" y="566142"/>
            <a:ext cx="7428190" cy="639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Parameter Types &amp; Hierarchies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42963" y="1614845"/>
            <a:ext cx="12944475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Parameter Store supports three distinct parameter types, each designed for specific use cases. Understanding these types helps you choose the right approach for your configuration data.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42963" y="2499836"/>
            <a:ext cx="4178379" cy="2769870"/>
          </a:xfrm>
          <a:prstGeom prst="roundRect">
            <a:avLst>
              <a:gd name="adj" fmla="val 3103"/>
            </a:avLst>
          </a:prstGeom>
          <a:solidFill>
            <a:srgbClr val="4967E9"/>
          </a:solidFill>
          <a:ln w="7620">
            <a:solidFill>
              <a:srgbClr val="628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5132" y="2712006"/>
            <a:ext cx="2558177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5132" y="3154561"/>
            <a:ext cx="3754041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Plain text values for non-sensitive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5132" y="3932158"/>
            <a:ext cx="37540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 endpoints and URLs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5132" y="4331137"/>
            <a:ext cx="37540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Configuration flags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5132" y="4730115"/>
            <a:ext cx="37540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Application settings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25891" y="2499836"/>
            <a:ext cx="4178498" cy="2769870"/>
          </a:xfrm>
          <a:prstGeom prst="roundRect">
            <a:avLst>
              <a:gd name="adj" fmla="val 3103"/>
            </a:avLst>
          </a:prstGeom>
          <a:solidFill>
            <a:srgbClr val="5B7AED"/>
          </a:solidFill>
          <a:ln w="7620">
            <a:solidFill>
              <a:srgbClr val="74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38061" y="2712006"/>
            <a:ext cx="2558177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StringList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38061" y="3154561"/>
            <a:ext cx="375416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Comma-separated values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38061" y="3604736"/>
            <a:ext cx="375416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Multiple environment names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38061" y="4003715"/>
            <a:ext cx="375416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Lists of approved AMI IDs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38061" y="4402693"/>
            <a:ext cx="375416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 flags arrays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8939" y="2499836"/>
            <a:ext cx="4178379" cy="2769870"/>
          </a:xfrm>
          <a:prstGeom prst="roundRect">
            <a:avLst>
              <a:gd name="adj" fmla="val 3103"/>
            </a:avLst>
          </a:prstGeom>
          <a:solidFill>
            <a:srgbClr val="7693F1"/>
          </a:solidFill>
          <a:ln w="7620">
            <a:solidFill>
              <a:srgbClr val="5C79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1108" y="2712006"/>
            <a:ext cx="2558177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SecureString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821108" y="3154561"/>
            <a:ext cx="37540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Encrypted sensitive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21108" y="3604736"/>
            <a:ext cx="37540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Database passwords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21108" y="4003715"/>
            <a:ext cx="37540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 keys and tokens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21108" y="4402693"/>
            <a:ext cx="37540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License codes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2963" y="5576649"/>
            <a:ext cx="3810953" cy="38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Hierarchical Organization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42963" y="6592014"/>
            <a:ext cx="4178379" cy="2286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24" name="Text 22"/>
          <p:cNvSpPr/>
          <p:nvPr/>
        </p:nvSpPr>
        <p:spPr>
          <a:xfrm>
            <a:off x="842963" y="6740009"/>
            <a:ext cx="2558177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/prod/db/password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2963" y="7182564"/>
            <a:ext cx="4178379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Production database credentials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25891" y="6592014"/>
            <a:ext cx="4178498" cy="2286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27" name="Text 25"/>
          <p:cNvSpPr/>
          <p:nvPr/>
        </p:nvSpPr>
        <p:spPr>
          <a:xfrm>
            <a:off x="5225891" y="6740009"/>
            <a:ext cx="2558177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/dev/api/endpoint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25891" y="7182564"/>
            <a:ext cx="4178498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Development API configuration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08939" y="6592014"/>
            <a:ext cx="4178379" cy="2286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30" name="Text 28"/>
          <p:cNvSpPr/>
          <p:nvPr/>
        </p:nvSpPr>
        <p:spPr>
          <a:xfrm>
            <a:off x="9608939" y="6740009"/>
            <a:ext cx="2558177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/shared/license/key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08939" y="7182564"/>
            <a:ext cx="4178379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Cross-environment resources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252" y="1409581"/>
            <a:ext cx="3617833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Security &amp; Encryption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1252" y="2199203"/>
            <a:ext cx="2385417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Encryption Architecture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91252" y="2602825"/>
            <a:ext cx="3909536" cy="898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SecureString parameters use AWS Key Management Service (KMS) for robust encryption. Choose between AWS-managed keys or customer-managed keys for maximum control over your encryption strategy.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878" y="3663315"/>
            <a:ext cx="210503" cy="2105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7380" y="3658910"/>
            <a:ext cx="1754743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Default KMS Key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947380" y="4018598"/>
            <a:ext cx="3453408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</a:t>
            </a:r>
            <a:r>
              <a:rPr lang="en-US" sz="11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alias/aws/ssm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automatic, managed encryption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878" y="4768096"/>
            <a:ext cx="210503" cy="2105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7380" y="4763691"/>
            <a:ext cx="2082641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Customer-Managed Keys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47380" y="5123378"/>
            <a:ext cx="3453408" cy="449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custom KMS keys with specific rotation policies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878" y="5857637"/>
            <a:ext cx="210503" cy="2105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7380" y="5853232"/>
            <a:ext cx="1869877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Symmetric Encryption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47380" y="6212919"/>
            <a:ext cx="3453408" cy="449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Only symmetric KMS keys supported for SecureString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750832" y="2199203"/>
            <a:ext cx="2576512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Access Control &amp; Auditing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4750832" y="2620328"/>
            <a:ext cx="3909536" cy="1120021"/>
          </a:xfrm>
          <a:prstGeom prst="roundRect">
            <a:avLst>
              <a:gd name="adj" fmla="val 5264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906447" y="2775942"/>
            <a:ext cx="1754743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IAM Policies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906447" y="3135630"/>
            <a:ext cx="3598307" cy="449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 granular permissions for who can read, write, or delete parameters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750832" y="3880723"/>
            <a:ext cx="3909536" cy="1120021"/>
          </a:xfrm>
          <a:prstGeom prst="roundRect">
            <a:avLst>
              <a:gd name="adj" fmla="val 5264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906447" y="4036338"/>
            <a:ext cx="1754743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CloudTrail Logging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906447" y="4396026"/>
            <a:ext cx="3598307" cy="449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Audit every parameter access, modification, and deletion with complete visibility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750832" y="5141119"/>
            <a:ext cx="3909536" cy="1120021"/>
          </a:xfrm>
          <a:prstGeom prst="roundRect">
            <a:avLst>
              <a:gd name="adj" fmla="val 5264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906447" y="5296733"/>
            <a:ext cx="1754743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Resource Policies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906447" y="5656421"/>
            <a:ext cx="3598307" cy="449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Control cross-account access with advanced policy configurations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702" y="1128236"/>
            <a:ext cx="531685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Creating &amp; Managing Parameters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610314" y="1958816"/>
            <a:ext cx="135612" cy="794861"/>
          </a:xfrm>
          <a:prstGeom prst="roundRect">
            <a:avLst>
              <a:gd name="adj" fmla="val 4201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4702" y="1869877"/>
            <a:ext cx="406837" cy="406837"/>
          </a:xfrm>
          <a:prstGeom prst="roundRect">
            <a:avLst>
              <a:gd name="adj" fmla="val 11237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6382" y="1971675"/>
            <a:ext cx="203359" cy="2033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7151" y="1891070"/>
            <a:ext cx="1695450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Choose Your Method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017151" y="2184321"/>
            <a:ext cx="7652147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parameters via AWS Console for quick setup, CLI for automation, SDK for application integration, or CloudFormation for infrastructure as code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13673" y="3092768"/>
            <a:ext cx="135612" cy="794861"/>
          </a:xfrm>
          <a:prstGeom prst="roundRect">
            <a:avLst>
              <a:gd name="adj" fmla="val 4201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78061" y="3003828"/>
            <a:ext cx="406837" cy="406837"/>
          </a:xfrm>
          <a:prstGeom prst="roundRect">
            <a:avLst>
              <a:gd name="adj" fmla="val 11237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9740" y="3105626"/>
            <a:ext cx="203359" cy="2033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20510" y="3025021"/>
            <a:ext cx="1695450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Configure Parameter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220510" y="3318272"/>
            <a:ext cx="7448788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 parameter name, type (String/StringList/SecureString), description, and value. For SecureString, select your KMS key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1017151" y="4226719"/>
            <a:ext cx="135612" cy="794861"/>
          </a:xfrm>
          <a:prstGeom prst="roundRect">
            <a:avLst>
              <a:gd name="adj" fmla="val 4201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81539" y="4137779"/>
            <a:ext cx="406837" cy="406837"/>
          </a:xfrm>
          <a:prstGeom prst="roundRect">
            <a:avLst>
              <a:gd name="adj" fmla="val 11237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3218" y="4239578"/>
            <a:ext cx="203359" cy="20335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23987" y="4158972"/>
            <a:ext cx="1695450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Add Metadata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423987" y="4452223"/>
            <a:ext cx="7245310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Apply tags for organization, set parameter policies, and configure change notifications via EventBridge integration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1220629" y="5360670"/>
            <a:ext cx="135612" cy="794861"/>
          </a:xfrm>
          <a:prstGeom prst="roundRect">
            <a:avLst>
              <a:gd name="adj" fmla="val 4201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085017" y="5271730"/>
            <a:ext cx="406837" cy="406837"/>
          </a:xfrm>
          <a:prstGeom prst="roundRect">
            <a:avLst>
              <a:gd name="adj" fmla="val 11237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6696" y="5373529"/>
            <a:ext cx="203359" cy="20335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27465" y="5292923"/>
            <a:ext cx="1695450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627465" y="5586174"/>
            <a:ext cx="7041832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parameter changes automatically with version history. Use labels to mark stable versions for rollback capability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4702" y="6308169"/>
            <a:ext cx="8194596" cy="793075"/>
          </a:xfrm>
          <a:prstGeom prst="roundRect">
            <a:avLst>
              <a:gd name="adj" fmla="val 7184"/>
            </a:avLst>
          </a:prstGeom>
          <a:solidFill>
            <a:srgbClr val="BBC6F7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314" y="6503670"/>
            <a:ext cx="169545" cy="1356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15472" y="6477595"/>
            <a:ext cx="7618214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0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 CLI Command:</a:t>
            </a: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aws ssm put-parameter --name "/prod/db/password" --value ""&lt;encrypted-secret&gt;"" --type SecureString --key-id "alias/aws/ssm"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4898" y="591383"/>
            <a:ext cx="4662130" cy="520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Integration &amp; Use Cases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2044898" y="1445300"/>
            <a:ext cx="1054048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Parameter Store seamlessly integrates with the AWS ecosystem, enabling secure configuration management across your entire infrastructure and application stack.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4898" y="2166104"/>
            <a:ext cx="499943" cy="4999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44898" y="2874288"/>
            <a:ext cx="208299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AWS Lambda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44898" y="3234571"/>
            <a:ext cx="51661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Reference parameters in Lambda environment variables or retrieve them dynamically at runtime for serverless applications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9261" y="2166104"/>
            <a:ext cx="499943" cy="4999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19261" y="2874288"/>
            <a:ext cx="208299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EC2 User Data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419261" y="3234571"/>
            <a:ext cx="51661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Inject configuration values into EC2 instances at launch time without hardcoding secrets in AMIs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44898" y="4101227"/>
            <a:ext cx="499943" cy="4999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44898" y="4809411"/>
            <a:ext cx="208299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ECS Tasks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2044898" y="5169694"/>
            <a:ext cx="51661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Supply container configurations and secrets to ECS task definitions securely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19261" y="4101227"/>
            <a:ext cx="499943" cy="4999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19261" y="4809411"/>
            <a:ext cx="208299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CloudFormation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7419261" y="5169694"/>
            <a:ext cx="51661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Reference parameters in infrastructure templates for dynamic, environment-specific deployments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44898" y="6036350"/>
            <a:ext cx="499943" cy="49994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044898" y="6744533"/>
            <a:ext cx="208299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CI/CD Pipelines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2044898" y="7104817"/>
            <a:ext cx="51661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 configuration updates and secrets retrieval in CodePipeline, Jenkins, and other CI/CD tools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19261" y="6036350"/>
            <a:ext cx="499943" cy="49994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19261" y="6744533"/>
            <a:ext cx="208299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Secrets Manager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7419261" y="7104817"/>
            <a:ext cx="51661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 with AWS Secrets Manager for advanced lifecycle management and automatic rotation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3340" y="392549"/>
            <a:ext cx="3479721" cy="434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Pricing Overview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340" y="1192768"/>
            <a:ext cx="4232077" cy="42320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92603" y="1192768"/>
            <a:ext cx="4232077" cy="1778675"/>
          </a:xfrm>
          <a:prstGeom prst="roundRect">
            <a:avLst>
              <a:gd name="adj" fmla="val 4113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77363" y="1192768"/>
            <a:ext cx="60960" cy="1778675"/>
          </a:xfrm>
          <a:prstGeom prst="roundRect">
            <a:avLst>
              <a:gd name="adj" fmla="val 95898"/>
            </a:avLst>
          </a:prstGeom>
          <a:solidFill>
            <a:srgbClr val="4967E9"/>
          </a:solidFill>
          <a:ln/>
        </p:spPr>
      </p:sp>
      <p:sp>
        <p:nvSpPr>
          <p:cNvPr id="6" name="Text 3"/>
          <p:cNvSpPr/>
          <p:nvPr/>
        </p:nvSpPr>
        <p:spPr>
          <a:xfrm>
            <a:off x="7692747" y="1347192"/>
            <a:ext cx="1739860" cy="217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Standard Parameters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92747" y="1703784"/>
            <a:ext cx="387750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Free tier included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92747" y="2051685"/>
            <a:ext cx="387750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Up to 10,000 parameters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92747" y="2323028"/>
            <a:ext cx="387750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Maximum 4 KB parameter size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92747" y="2594372"/>
            <a:ext cx="387750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parameter policies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92603" y="3110627"/>
            <a:ext cx="4232077" cy="2050018"/>
          </a:xfrm>
          <a:prstGeom prst="roundRect">
            <a:avLst>
              <a:gd name="adj" fmla="val 3568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77363" y="3110627"/>
            <a:ext cx="60960" cy="2050018"/>
          </a:xfrm>
          <a:prstGeom prst="roundRect">
            <a:avLst>
              <a:gd name="adj" fmla="val 95898"/>
            </a:avLst>
          </a:prstGeom>
          <a:solidFill>
            <a:srgbClr val="4967E9"/>
          </a:solidFill>
          <a:ln/>
        </p:spPr>
      </p:sp>
      <p:sp>
        <p:nvSpPr>
          <p:cNvPr id="13" name="Text 10"/>
          <p:cNvSpPr/>
          <p:nvPr/>
        </p:nvSpPr>
        <p:spPr>
          <a:xfrm>
            <a:off x="7692747" y="3265051"/>
            <a:ext cx="1793796" cy="217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Advanced Parameters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692747" y="3621643"/>
            <a:ext cx="387750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$0.05 per advanced parameter per month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92747" y="3969544"/>
            <a:ext cx="387750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Up to 100,000 parameters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692747" y="4240887"/>
            <a:ext cx="387750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Maximum 8 KB parameter size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92747" y="4512231"/>
            <a:ext cx="387750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Parameter policies supported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92747" y="4783574"/>
            <a:ext cx="387750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Additional API interaction charges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92603" y="5299829"/>
            <a:ext cx="4232077" cy="1778675"/>
          </a:xfrm>
          <a:prstGeom prst="roundRect">
            <a:avLst>
              <a:gd name="adj" fmla="val 4113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77363" y="5299829"/>
            <a:ext cx="60960" cy="1778675"/>
          </a:xfrm>
          <a:prstGeom prst="roundRect">
            <a:avLst>
              <a:gd name="adj" fmla="val 95898"/>
            </a:avLst>
          </a:prstGeom>
          <a:solidFill>
            <a:srgbClr val="4967E9"/>
          </a:solidFill>
          <a:ln/>
        </p:spPr>
      </p:sp>
      <p:sp>
        <p:nvSpPr>
          <p:cNvPr id="21" name="Text 18"/>
          <p:cNvSpPr/>
          <p:nvPr/>
        </p:nvSpPr>
        <p:spPr>
          <a:xfrm>
            <a:off x="7692747" y="5454253"/>
            <a:ext cx="1739860" cy="217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Additional Costs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692747" y="5810845"/>
            <a:ext cx="387750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Variable pricing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692747" y="6158746"/>
            <a:ext cx="387750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AWS KMS encryption charges apply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692747" y="6430089"/>
            <a:ext cx="387750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CloudTrail logging costs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692747" y="6701433"/>
            <a:ext cx="387750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transfer charges if applicable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913340" y="7391638"/>
            <a:ext cx="8803719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Parameter Store offers a cost-effective alternative to AWS Secrets Manager for many use cases, especially when automatic rotation isn't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588288"/>
            <a:ext cx="7112079" cy="668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Best Practices &amp; Limitations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48784" y="1684615"/>
            <a:ext cx="13132832" cy="3849529"/>
          </a:xfrm>
          <a:prstGeom prst="roundRect">
            <a:avLst>
              <a:gd name="adj" fmla="val 233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6404" y="1692235"/>
            <a:ext cx="6558796" cy="1917144"/>
          </a:xfrm>
          <a:prstGeom prst="roundRect">
            <a:avLst>
              <a:gd name="adj" fmla="val 4687"/>
            </a:avLst>
          </a:prstGeom>
          <a:solidFill>
            <a:srgbClr val="D2D9F9"/>
          </a:solidFill>
          <a:ln/>
        </p:spPr>
      </p:sp>
      <p:sp>
        <p:nvSpPr>
          <p:cNvPr id="5" name="Text 3"/>
          <p:cNvSpPr/>
          <p:nvPr/>
        </p:nvSpPr>
        <p:spPr>
          <a:xfrm>
            <a:off x="970240" y="1906072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Security First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70240" y="2368629"/>
            <a:ext cx="6131123" cy="102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Always use SecureString for sensitive data. Implement least-privilege IAM policies and rotate KMS keys regularly according to compliance requirements.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0" y="1692235"/>
            <a:ext cx="6558796" cy="1917144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1692235"/>
            <a:ext cx="30480" cy="1917144"/>
          </a:xfrm>
          <a:prstGeom prst="roundRect">
            <a:avLst>
              <a:gd name="adj" fmla="val 294815"/>
            </a:avLst>
          </a:prstGeom>
          <a:solidFill>
            <a:srgbClr val="B8BFDF"/>
          </a:solidFill>
          <a:ln/>
        </p:spPr>
      </p:sp>
      <p:sp>
        <p:nvSpPr>
          <p:cNvPr id="9" name="Text 7"/>
          <p:cNvSpPr/>
          <p:nvPr/>
        </p:nvSpPr>
        <p:spPr>
          <a:xfrm>
            <a:off x="7529036" y="1906072"/>
            <a:ext cx="2862501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Organized Hierarchies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29036" y="2368629"/>
            <a:ext cx="6131123" cy="102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Design meaningful parameter paths that reflect your application structure. Use consistent naming conventions across teams and environments.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56404" y="3609380"/>
            <a:ext cx="6558796" cy="1917144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12" name="Shape 10"/>
          <p:cNvSpPr/>
          <p:nvPr/>
        </p:nvSpPr>
        <p:spPr>
          <a:xfrm>
            <a:off x="756404" y="3609380"/>
            <a:ext cx="6558796" cy="30480"/>
          </a:xfrm>
          <a:prstGeom prst="roundRect">
            <a:avLst>
              <a:gd name="adj" fmla="val 294815"/>
            </a:avLst>
          </a:prstGeom>
          <a:solidFill>
            <a:srgbClr val="B8BFDF"/>
          </a:solidFill>
          <a:ln/>
        </p:spPr>
      </p:sp>
      <p:sp>
        <p:nvSpPr>
          <p:cNvPr id="13" name="Text 11"/>
          <p:cNvSpPr/>
          <p:nvPr/>
        </p:nvSpPr>
        <p:spPr>
          <a:xfrm>
            <a:off x="970240" y="3823216"/>
            <a:ext cx="324457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Governance &amp; Monitoring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70240" y="4285774"/>
            <a:ext cx="6131123" cy="102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Apply parameter policies to enforce expiration dates. Configure EventBridge notifications for parameter changes to maintain oversight.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315200" y="3609380"/>
            <a:ext cx="6558796" cy="1917144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3609380"/>
            <a:ext cx="30480" cy="1917144"/>
          </a:xfrm>
          <a:prstGeom prst="roundRect">
            <a:avLst>
              <a:gd name="adj" fmla="val 294815"/>
            </a:avLst>
          </a:prstGeom>
          <a:solidFill>
            <a:srgbClr val="B8BFDF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3609380"/>
            <a:ext cx="6558796" cy="30480"/>
          </a:xfrm>
          <a:prstGeom prst="roundRect">
            <a:avLst>
              <a:gd name="adj" fmla="val 294815"/>
            </a:avLst>
          </a:prstGeom>
          <a:solidFill>
            <a:srgbClr val="B8BFDF"/>
          </a:solidFill>
          <a:ln/>
        </p:spPr>
      </p:sp>
      <p:sp>
        <p:nvSpPr>
          <p:cNvPr id="18" name="Text 16"/>
          <p:cNvSpPr/>
          <p:nvPr/>
        </p:nvSpPr>
        <p:spPr>
          <a:xfrm>
            <a:off x="7529036" y="3823216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Know the Limits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29036" y="4285774"/>
            <a:ext cx="6131123" cy="102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 parameters: 10,000 max, 4 KB size. Advanced: 100,000 max, 8 KB size. Consider API rate limits for high-throughput applications.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48784" y="5881716"/>
            <a:ext cx="13132832" cy="34290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48784" y="6236851"/>
            <a:ext cx="5699284" cy="401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When to Use Secrets Manager Instead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48784" y="6958727"/>
            <a:ext cx="13132832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 complex secrets lifecycle management requiring automatic rotation, multi-region replication, or built-in integration with RDS and other databases, consider AWS Secrets Manager as a complement to Parameter Store.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8257" y="531733"/>
            <a:ext cx="4359712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Summary &amp; Next Steps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3298865" y="1435298"/>
            <a:ext cx="200263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Secure Storage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248257" y="1781651"/>
            <a:ext cx="3053239" cy="51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Centralized, encrypted configuration and secrets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764" y="2751892"/>
            <a:ext cx="3546753" cy="354675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893" y="3675698"/>
            <a:ext cx="239673" cy="239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8785" y="1352788"/>
            <a:ext cx="200263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Scalable Solution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328785" y="1699141"/>
            <a:ext cx="3053239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Highly available across multiple AZs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764" y="2751892"/>
            <a:ext cx="3546753" cy="3546753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78804" y="3224689"/>
            <a:ext cx="239673" cy="2396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408914" y="2871788"/>
            <a:ext cx="200263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Access Control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9408914" y="3218140"/>
            <a:ext cx="2973110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Fine-grained IAM and audit logging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1764" y="2751892"/>
            <a:ext cx="3546753" cy="354675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36531" y="4405313"/>
            <a:ext cx="239673" cy="23967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328785" y="5742980"/>
            <a:ext cx="200263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AWS Integration</a:t>
            </a:r>
            <a:endParaRPr lang="en-US" sz="1550" dirty="0"/>
          </a:p>
        </p:txBody>
      </p:sp>
      <p:sp>
        <p:nvSpPr>
          <p:cNvPr id="16" name="Text 8"/>
          <p:cNvSpPr/>
          <p:nvPr/>
        </p:nvSpPr>
        <p:spPr>
          <a:xfrm>
            <a:off x="9328785" y="6089333"/>
            <a:ext cx="3053239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Seamless workflow automation</a:t>
            </a:r>
            <a:endParaRPr lang="en-US" sz="12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1764" y="2751892"/>
            <a:ext cx="3546753" cy="3546753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78804" y="5585936"/>
            <a:ext cx="239673" cy="239673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48257" y="2617232"/>
            <a:ext cx="3053239" cy="2088952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2898219" y="4886325"/>
            <a:ext cx="240327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Get Started Today</a:t>
            </a:r>
            <a:endParaRPr lang="en-US" sz="1850" dirty="0"/>
          </a:p>
        </p:txBody>
      </p:sp>
      <p:sp>
        <p:nvSpPr>
          <p:cNvPr id="21" name="Text 10"/>
          <p:cNvSpPr/>
          <p:nvPr/>
        </p:nvSpPr>
        <p:spPr>
          <a:xfrm>
            <a:off x="2248257" y="5282803"/>
            <a:ext cx="3053239" cy="1794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AWS Systems Manager Parameter Store provides enterprise-grade configuration management with minimal operational overhead. Start building more secure, maintainable applications by centralizing your secrets and configuration data.</a:t>
            </a:r>
            <a:endParaRPr lang="en-US" sz="1250" dirty="0"/>
          </a:p>
        </p:txBody>
      </p:sp>
      <p:pic>
        <p:nvPicPr>
          <p:cNvPr id="22" name="Image 9" descr="preencoded.png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48257" y="7257336"/>
            <a:ext cx="1721644" cy="440531"/>
          </a:xfrm>
          <a:prstGeom prst="rect">
            <a:avLst/>
          </a:prstGeom>
        </p:spPr>
      </p:pic>
      <p:pic>
        <p:nvPicPr>
          <p:cNvPr id="23" name="Image 10" descr="preencoded.png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49911" y="7257336"/>
            <a:ext cx="1251585" cy="440531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41764" y="2751892"/>
            <a:ext cx="3546753" cy="3546753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6190893" y="5105043"/>
            <a:ext cx="239673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983</Words>
  <Application>Microsoft Office PowerPoint</Application>
  <PresentationFormat>Custom</PresentationFormat>
  <Paragraphs>153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Nobile</vt:lpstr>
      <vt:lpstr>Arial</vt:lpstr>
      <vt:lpstr>Corben</vt:lpstr>
      <vt:lpstr>Consolas</vt:lpstr>
      <vt:lpstr>Copperplate Gothic Bold</vt:lpstr>
      <vt:lpstr>Wingdings</vt:lpstr>
      <vt:lpstr>Algerian</vt:lpstr>
      <vt:lpstr>Agency FB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Sai Teja</cp:lastModifiedBy>
  <cp:revision>8</cp:revision>
  <dcterms:created xsi:type="dcterms:W3CDTF">2026-01-06T14:16:05Z</dcterms:created>
  <dcterms:modified xsi:type="dcterms:W3CDTF">2026-01-19T13:27:54Z</dcterms:modified>
</cp:coreProperties>
</file>